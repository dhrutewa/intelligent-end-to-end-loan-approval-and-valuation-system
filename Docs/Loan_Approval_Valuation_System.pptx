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5166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05940"/>
            <a:ext cx="9144000" cy="54864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73736"/>
            <a:ext cx="2377440" cy="274320"/>
          </a:xfrm>
          <a:prstGeom prst="roundRect">
            <a:avLst/>
          </a:prstGeom>
          <a:solidFill>
            <a:srgbClr val="2D7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3736"/>
            <a:ext cx="2377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DATA SCIENCE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7"/>
            <a:ext cx="8229600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Intelligent 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Loan Approval &amp; Valuation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90472"/>
            <a:ext cx="82296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B5D4F4"/>
                </a:solidFill>
                <a:latin typeface="Calibri"/>
              </a:rPr>
              <a:t>Machine Learning  ·  Predictive Analytics  ·  End-to-End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" y="2034540"/>
            <a:ext cx="1636776" cy="868680"/>
          </a:xfrm>
          <a:prstGeom prst="round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2098548"/>
            <a:ext cx="163677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C447C"/>
                </a:solidFill>
                <a:latin typeface="Calibri"/>
              </a:rPr>
              <a:t>Loan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345436"/>
            <a:ext cx="163677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C447C"/>
                </a:solidFill>
                <a:latin typeface="Calibri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2610612"/>
            <a:ext cx="163677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185FA5"/>
                </a:solidFill>
                <a:latin typeface="Calibri"/>
              </a:rPr>
              <a:t>Data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88336" y="2034540"/>
            <a:ext cx="1636776" cy="868680"/>
          </a:xfrm>
          <a:prstGeom prst="roundRect">
            <a:avLst/>
          </a:prstGeom>
          <a:solidFill>
            <a:srgbClr val="EEEDFE"/>
          </a:solidFill>
          <a:ln w="6350">
            <a:solidFill>
              <a:srgbClr val="AFA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8336" y="2098548"/>
            <a:ext cx="163677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3C3489"/>
                </a:solidFill>
                <a:latin typeface="Calibri"/>
              </a:rPr>
              <a:t>ML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336" y="2345436"/>
            <a:ext cx="163677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3C3489"/>
                </a:solidFill>
                <a:latin typeface="Calibri"/>
              </a:rPr>
              <a:t>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2610612"/>
            <a:ext cx="163677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534AB7"/>
                </a:solidFill>
                <a:latin typeface="Calibri"/>
              </a:rPr>
              <a:t>Predictive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37176" y="2034540"/>
            <a:ext cx="1636776" cy="868680"/>
          </a:xfrm>
          <a:prstGeom prst="roundRect">
            <a:avLst/>
          </a:prstGeom>
          <a:solidFill>
            <a:srgbClr val="E1F5EE"/>
          </a:solidFill>
          <a:ln w="6350">
            <a:solidFill>
              <a:srgbClr val="5DC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37176" y="2098548"/>
            <a:ext cx="163677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5041"/>
                </a:solidFill>
                <a:latin typeface="Calibri"/>
              </a:rPr>
              <a:t>Automated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7176" y="2345436"/>
            <a:ext cx="163677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5041"/>
                </a:solidFill>
                <a:latin typeface="Calibri"/>
              </a:rPr>
              <a:t>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7176" y="2610612"/>
            <a:ext cx="163677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0F6E56"/>
                </a:solidFill>
                <a:latin typeface="Calibri"/>
              </a:rPr>
              <a:t>Approve / Reject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2034540"/>
            <a:ext cx="1636776" cy="868680"/>
          </a:xfrm>
          <a:prstGeom prst="roundRect">
            <a:avLst/>
          </a:prstGeom>
          <a:solidFill>
            <a:srgbClr val="EAF3DE"/>
          </a:solidFill>
          <a:ln w="6350">
            <a:solidFill>
              <a:srgbClr val="C0D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098548"/>
            <a:ext cx="163677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7500A"/>
                </a:solidFill>
                <a:latin typeface="Calibri"/>
              </a:rPr>
              <a:t>Loan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345436"/>
            <a:ext cx="163677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7500A"/>
                </a:solidFill>
                <a:latin typeface="Calibri"/>
              </a:rPr>
              <a:t>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610612"/>
            <a:ext cx="163677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3B6D11"/>
                </a:solidFill>
                <a:latin typeface="Calibri"/>
              </a:rPr>
              <a:t>Value estimation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203704" y="2468880"/>
            <a:ext cx="429768" cy="0"/>
          </a:xfrm>
          <a:prstGeom prst="line">
            <a:avLst/>
          </a:prstGeom>
          <a:ln w="19050">
            <a:solidFill>
              <a:srgbClr val="378ADD"/>
            </a:solidFill>
            <a:tailEnd type="open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352544" y="2468880"/>
            <a:ext cx="438912" cy="0"/>
          </a:xfrm>
          <a:prstGeom prst="line">
            <a:avLst/>
          </a:prstGeom>
          <a:ln w="19050">
            <a:solidFill>
              <a:srgbClr val="378ADD"/>
            </a:solidFill>
            <a:tailEnd type="open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10528" y="2468880"/>
            <a:ext cx="429768" cy="0"/>
          </a:xfrm>
          <a:prstGeom prst="line">
            <a:avLst/>
          </a:prstGeom>
          <a:ln w="19050">
            <a:solidFill>
              <a:srgbClr val="378ADD"/>
            </a:solidFill>
            <a:tailEnd type="open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39496" y="3108960"/>
            <a:ext cx="8065008" cy="0"/>
          </a:xfrm>
          <a:prstGeom prst="line">
            <a:avLst/>
          </a:prstGeom>
          <a:ln w="6350">
            <a:solidFill>
              <a:srgbClr val="D3D1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39496" y="3291840"/>
            <a:ext cx="2487168" cy="1005840"/>
          </a:xfrm>
          <a:prstGeom prst="roundRect">
            <a:avLst/>
          </a:prstGeom>
          <a:solidFill>
            <a:srgbClr val="F1EFE8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6" y="3383280"/>
            <a:ext cx="248716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5F5E5A"/>
                </a:solidFill>
                <a:latin typeface="Calibri"/>
              </a:rPr>
              <a:t>Model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" y="3657600"/>
            <a:ext cx="24871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185FA5"/>
                </a:solidFill>
                <a:latin typeface="Calibri"/>
              </a:rPr>
              <a:t>94.7%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28416" y="3291840"/>
            <a:ext cx="2487168" cy="1005840"/>
          </a:xfrm>
          <a:prstGeom prst="roundRect">
            <a:avLst/>
          </a:prstGeom>
          <a:solidFill>
            <a:srgbClr val="F1EFE8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383280"/>
            <a:ext cx="248716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5F5E5A"/>
                </a:solidFill>
                <a:latin typeface="Calibri"/>
              </a:rPr>
              <a:t>Risk features analyzed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28416" y="3657600"/>
            <a:ext cx="24871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534AB7"/>
                </a:solidFill>
                <a:latin typeface="Calibri"/>
              </a:rPr>
              <a:t>12+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08192" y="3291840"/>
            <a:ext cx="2487168" cy="1005840"/>
          </a:xfrm>
          <a:prstGeom prst="roundRect">
            <a:avLst/>
          </a:prstGeom>
          <a:solidFill>
            <a:srgbClr val="F1EFE8"/>
          </a:solidFill>
          <a:ln w="6350">
            <a:solidFill>
              <a:srgbClr val="D3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08192" y="3383280"/>
            <a:ext cx="248716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0">
                <a:solidFill>
                  <a:srgbClr val="5F5E5A"/>
                </a:solidFill>
                <a:latin typeface="Calibri"/>
              </a:rPr>
              <a:t>Valuation accuracy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8192" y="3657600"/>
            <a:ext cx="24871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3B6D11"/>
                </a:solidFill>
                <a:latin typeface="Calibri"/>
              </a:rPr>
              <a:t>91.2%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9496" y="4572000"/>
            <a:ext cx="210312" cy="182880"/>
          </a:xfrm>
          <a:prstGeom prst="rect">
            <a:avLst/>
          </a:prstGeom>
          <a:solidFill>
            <a:srgbClr val="B5D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1248" y="4480560"/>
            <a:ext cx="210312" cy="274320"/>
          </a:xfrm>
          <a:prstGeom prst="rect">
            <a:avLst/>
          </a:prstGeom>
          <a:solidFill>
            <a:srgbClr val="85B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33856" y="4398264"/>
            <a:ext cx="210312" cy="3566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426464" y="4471416"/>
            <a:ext cx="210312" cy="283464"/>
          </a:xfrm>
          <a:prstGeom prst="rect">
            <a:avLst/>
          </a:prstGeom>
          <a:solidFill>
            <a:srgbClr val="85B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719072" y="4370832"/>
            <a:ext cx="210312" cy="38404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20824" y="4517136"/>
            <a:ext cx="210312" cy="237744"/>
          </a:xfrm>
          <a:prstGeom prst="rect">
            <a:avLst/>
          </a:prstGeom>
          <a:solidFill>
            <a:srgbClr val="B5D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78024" y="4709160"/>
            <a:ext cx="6400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888780"/>
                </a:solidFill>
                <a:latin typeface="Calibri"/>
              </a:rPr>
              <a:t>· Loan approval prediction  ·  Valuation engine  ·  Automated decisioning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